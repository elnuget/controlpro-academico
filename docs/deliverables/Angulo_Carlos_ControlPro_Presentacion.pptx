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dla_log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38912"/>
            <a:ext cx="4023360" cy="1149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572768"/>
            <a:ext cx="74523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A6A6"/>
                </a:solidFill>
                <a:latin typeface="Aptos"/>
              </a:defRPr>
            </a:pPr>
            <a:r>
              <a:t>PROYECTO FINAL DE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754380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3800" b="1">
                <a:solidFill>
                  <a:srgbClr val="123B5D"/>
                </a:solidFill>
                <a:latin typeface="Aptos"/>
              </a:defRPr>
            </a:pPr>
            <a:r>
              <a:t>CONTROLPRO</a:t>
            </a:r>
            <a:br/>
            <a:r>
              <a:t>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27248"/>
            <a:ext cx="722376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200" b="0">
                <a:solidFill>
                  <a:srgbClr val="212A31"/>
                </a:solidFill>
                <a:latin typeface="Aptos"/>
              </a:defRPr>
            </a:pPr>
            <a:r>
              <a:t>Arquitectura distribuida con microservicios, mensajería y API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096512"/>
            <a:ext cx="690372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370832"/>
            <a:ext cx="62179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E6B75"/>
                </a:solidFill>
                <a:latin typeface="Aptos"/>
              </a:defRPr>
            </a:pPr>
            <a:r>
              <a:t>Carlos Angulo</a:t>
            </a:r>
            <a:br/>
            <a:r>
              <a:t>Ing. Mónica Sánchez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650992"/>
            <a:ext cx="7132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23B5D"/>
                </a:solidFill>
                <a:latin typeface="Aptos"/>
              </a:defRPr>
            </a:pPr>
            <a:r>
              <a:t>ISWZ2202 · DISEÑO Y ARQUITECTURA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658368"/>
            <a:ext cx="26974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736592"/>
            <a:ext cx="2468880" cy="10058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  <a:br/>
            <a:r>
              <a:t>APLICACIONES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5897880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9FE5E5"/>
                </a:solidFill>
                <a:latin typeface="Aptos"/>
              </a:defRPr>
            </a:pPr>
            <a:r>
              <a:t>REST + AMQP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Del blueprint a una solución ejecutable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51560"/>
            <a:ext cx="5321808" cy="45262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/>
          <a:lstStyle/>
          <a:p>
            <a:pPr algn="l">
              <a:spcAft>
                <a:spcPts val="400"/>
              </a:spcAft>
              <a:defRPr sz="1400" b="1">
                <a:solidFill>
                  <a:srgbClr val="C93A3A"/>
                </a:solidFill>
                <a:latin typeface="Aptos"/>
              </a:defRPr>
            </a:pPr>
            <a:r>
              <a:t>PROBLEMA</a:t>
            </a:r>
          </a:p>
          <a:p>
            <a:pPr algn="l">
              <a:spcAft>
                <a:spcPts val="1500"/>
              </a:spcAft>
              <a:defRPr sz="2500" b="1">
                <a:solidFill>
                  <a:srgbClr val="123B5D"/>
                </a:solidFill>
                <a:latin typeface="Aptos"/>
              </a:defRPr>
            </a:pPr>
            <a:r>
              <a:t>El seguimiento académico está disperso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12A31"/>
                </a:solidFill>
                <a:latin typeface="Aptos"/>
              </a:defRPr>
            </a:pPr>
            <a:r>
              <a:t>• Evidencias en archivos y chats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12A31"/>
                </a:solidFill>
                <a:latin typeface="Aptos"/>
              </a:defRPr>
            </a:pPr>
            <a:r>
              <a:t>• Estados difíciles de reconstruir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12A31"/>
                </a:solidFill>
                <a:latin typeface="Aptos"/>
              </a:defRPr>
            </a:pPr>
            <a:r>
              <a:t>• Alertas dependientes de tareas manuales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212A31"/>
                </a:solidFill>
                <a:latin typeface="Aptos"/>
              </a:defRPr>
            </a:pPr>
            <a:r>
              <a:t>• Poca trazabilidad para estudiante y docente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051560"/>
            <a:ext cx="5321808" cy="452628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EA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/>
          <a:lstStyle/>
          <a:p>
            <a:pPr algn="l">
              <a:spcAft>
                <a:spcPts val="400"/>
              </a:spcAft>
              <a:defRPr sz="1400" b="1">
                <a:solidFill>
                  <a:srgbClr val="00A6A6"/>
                </a:solidFill>
                <a:latin typeface="Aptos"/>
              </a:defRPr>
            </a:pPr>
            <a:r>
              <a:t>OBJETIVO</a:t>
            </a:r>
          </a:p>
          <a:p>
            <a:pPr algn="l">
              <a:spcAft>
                <a:spcPts val="1500"/>
              </a:spcAft>
              <a:defRPr sz="2500" b="1">
                <a:solidFill>
                  <a:srgbClr val="123B5D"/>
                </a:solidFill>
                <a:latin typeface="Aptos"/>
              </a:defRPr>
            </a:pPr>
            <a:r>
              <a:t>ControlPro centraliza y desacopla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212A31"/>
                </a:solidFill>
                <a:latin typeface="Aptos"/>
              </a:defRPr>
            </a:pPr>
            <a:r>
              <a:t>Una API pública y documentada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212A31"/>
                </a:solidFill>
                <a:latin typeface="Aptos"/>
              </a:defRPr>
            </a:pPr>
            <a:r>
              <a:t>Persistencia transaccional y caché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212A31"/>
                </a:solidFill>
                <a:latin typeface="Aptos"/>
              </a:defRPr>
            </a:pPr>
            <a:r>
              <a:t>Alertas procesadas por eventos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212A31"/>
                </a:solidFill>
                <a:latin typeface="Aptos"/>
              </a:defRPr>
            </a:pPr>
            <a:r>
              <a:t>Despliegue reproducible en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Cobertura completa de la consigna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8930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23B5D"/>
                </a:solidFill>
                <a:latin typeface="Aptos"/>
              </a:defRPr>
            </a:pPr>
            <a:r>
              <a:t>3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Ecosistema conectado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14300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128930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0A6A6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172821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PostgreSQL +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14300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28930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6845B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172821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Consumidor reactivo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5176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79806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23B5D"/>
                </a:solidFill>
                <a:latin typeface="Aptos"/>
              </a:defRPr>
            </a:pPr>
            <a:r>
              <a:t>Cola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23697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RabbitMQ durable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265176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279806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0A6A6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323697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REST centralizado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265176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279806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6845B"/>
                </a:solidFill>
                <a:latin typeface="Aptos"/>
              </a:defRPr>
            </a:pPr>
            <a:r>
              <a:t>Swagger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23697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OpenAPI 3.0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6052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30682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23B5D"/>
                </a:solidFill>
                <a:latin typeface="Aptos"/>
              </a:defRPr>
            </a:pPr>
            <a:r>
              <a:t>Diagramas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74573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C4 + despliegue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16052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1" y="430682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0A6A6"/>
                </a:solidFill>
                <a:latin typeface="Aptos"/>
              </a:defRPr>
            </a:pPr>
            <a:r>
              <a:t>Calidad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1" y="474573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9 atributos analizados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02752" y="4160520"/>
            <a:ext cx="34290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4306824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6845B"/>
                </a:solidFill>
                <a:latin typeface="Aptos"/>
              </a:defRPr>
            </a:pPr>
            <a:r>
              <a:t>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4745736"/>
            <a:ext cx="2971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Tests + CI/CD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Arquitectura general — C4 Contenedores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Cliente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Swagger /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92024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FFFFF"/>
                </a:solidFill>
                <a:latin typeface="Aptos Display"/>
              </a:defRPr>
            </a:pPr>
            <a:r>
              <a:t>API Gateway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:3000 · 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920240"/>
            <a:ext cx="2057400" cy="1097280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FFFFF"/>
                </a:solidFill>
                <a:latin typeface="Aptos Display"/>
              </a:defRPr>
            </a:pPr>
            <a:r>
              <a:t>Project Service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:3001 · dominio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9601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PostgreSQL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3317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Redis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cache-aside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7033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RabbitMQ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eventos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65760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FFFFF"/>
                </a:solidFill>
                <a:latin typeface="Aptos Display"/>
              </a:defRPr>
            </a:pPr>
            <a:r>
              <a:t>Alert Function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server function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1680" y="2468880"/>
            <a:ext cx="411480" cy="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97680" y="2468880"/>
            <a:ext cx="502920" cy="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58000" y="1463040"/>
            <a:ext cx="502920" cy="82296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2514600"/>
            <a:ext cx="502920" cy="27432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2743200"/>
            <a:ext cx="502920" cy="141732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98280" y="4160520"/>
            <a:ext cx="548640" cy="0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229600" y="1920240"/>
            <a:ext cx="2331720" cy="173736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65960" y="3154680"/>
            <a:ext cx="5029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23B5D"/>
                </a:solidFill>
                <a:latin typeface="Aptos"/>
              </a:defRPr>
            </a:pPr>
            <a:r>
              <a:t>Ruta síncrona: respuesta inmediata al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074920"/>
            <a:ext cx="3840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00A6A6"/>
                </a:solidFill>
                <a:latin typeface="Aptos"/>
              </a:defRPr>
            </a:pPr>
            <a:r>
              <a:t>Ruta asíncrona: evento → función → alerta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440680"/>
            <a:ext cx="6080760" cy="585216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EA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77840"/>
            <a:ext cx="5623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23B5D"/>
                </a:solidFill>
                <a:latin typeface="Aptos"/>
              </a:defRPr>
            </a:pPr>
            <a:r>
              <a:t>Única entrada pública · Servicios internos aislados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Tres proyectos, responsabilidades claras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143000"/>
            <a:ext cx="3401568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143000"/>
            <a:ext cx="3401568" cy="804672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5331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344168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67712"/>
            <a:ext cx="2926080" cy="2331720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Entrada REST única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Swagger / OpenAPI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x-request-id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Timeout y errores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257800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23B5D"/>
                </a:solidFill>
                <a:latin typeface="Aptos"/>
              </a:defRPr>
            </a:pPr>
            <a:r>
              <a:t>DESPLEGABLE INDEPENDIENTE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1143000"/>
            <a:ext cx="3401568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3" y="1143000"/>
            <a:ext cx="3401568" cy="804672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5" y="135331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1344168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PROJECT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267712"/>
            <a:ext cx="2926080" cy="2331720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Proyectos y avances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Transacciones SQL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Redis cache-aside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Publica eventos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5257800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00A6A6"/>
                </a:solidFill>
                <a:latin typeface="Aptos"/>
              </a:defRPr>
            </a:pPr>
            <a:r>
              <a:t>DESPLEGABLE INDEPENDIENTE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1143000"/>
            <a:ext cx="3401568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66175" y="1143000"/>
            <a:ext cx="3401568" cy="804672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7" y="135331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7" y="1344168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ALERT FUNCTION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6" y="2267712"/>
            <a:ext cx="2926080" cy="2331720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Consume RabbitMQ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Función reactiva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Idempotencia</a:t>
            </a:r>
          </a:p>
          <a:p>
            <a:pPr>
              <a:spcAft>
                <a:spcPts val="1000"/>
              </a:spcAft>
              <a:defRPr sz="1700">
                <a:solidFill>
                  <a:srgbClr val="212A31"/>
                </a:solidFill>
                <a:latin typeface="Aptos"/>
              </a:defRPr>
            </a:pPr>
            <a:r>
              <a:t>•  Persiste alertas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5257800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845B"/>
                </a:solidFill>
                <a:latin typeface="Aptos"/>
              </a:defRPr>
            </a:pPr>
            <a:r>
              <a:t>DESPLEGABLE INDEPENDIENTE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Flujo principal: registrar un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1892807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984248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95144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123B5D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70048"/>
            <a:ext cx="138988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E6B75"/>
                </a:solidFill>
                <a:latin typeface="Aptos"/>
              </a:defRPr>
            </a:pPr>
            <a:r>
              <a:t>POST /progress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39696" y="2587752"/>
            <a:ext cx="256032" cy="1280159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80" y="333756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95728" y="3172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3264408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3575304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123B5D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950208"/>
            <a:ext cx="138988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E6B75"/>
                </a:solidFill>
                <a:latin typeface="Aptos"/>
              </a:defRPr>
            </a:pPr>
            <a:r>
              <a:t>reenvía + timeout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041648" y="2587752"/>
            <a:ext cx="256032" cy="1280159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0832" y="205740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80" y="1892807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984248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2295144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123B5D"/>
                </a:solidFill>
                <a:latin typeface="Aptos"/>
              </a:defRPr>
            </a:pPr>
            <a:r>
              <a:t>Servicio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2670048"/>
            <a:ext cx="138988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E6B75"/>
                </a:solidFill>
                <a:latin typeface="Aptos"/>
              </a:defRPr>
            </a:pPr>
            <a:r>
              <a:t>valida + transacción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0" y="2587752"/>
            <a:ext cx="256032" cy="1280159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72784" y="333756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9632" y="3172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3264408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575304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123B5D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3950208"/>
            <a:ext cx="138988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E6B75"/>
                </a:solidFill>
                <a:latin typeface="Aptos"/>
              </a:defRPr>
            </a:pPr>
            <a:r>
              <a:t>guarda avance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845552" y="2587752"/>
            <a:ext cx="256031" cy="1280159"/>
          </a:xfrm>
          <a:prstGeom prst="line">
            <a:avLst/>
          </a:prstGeom>
          <a:ln w="25400">
            <a:solidFill>
              <a:srgbClr val="123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74736" y="205740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01583" y="1892807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3" y="1984248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2295144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0A6A6"/>
                </a:solidFill>
                <a:latin typeface="Aptos"/>
              </a:defRPr>
            </a:pPr>
            <a:r>
              <a:t>RabbitMQ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2670048"/>
            <a:ext cx="138988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E6B75"/>
                </a:solidFill>
                <a:latin typeface="Aptos"/>
              </a:defRPr>
            </a:pPr>
            <a:r>
              <a:t>progress.recorded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747504" y="2587752"/>
            <a:ext cx="256032" cy="1280159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76688" y="333756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03536" y="3172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4976" y="3264408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575304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0A6A6"/>
                </a:solidFill>
                <a:latin typeface="Aptos"/>
              </a:defRPr>
            </a:pPr>
            <a:r>
              <a:t>Función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8128" y="3950208"/>
            <a:ext cx="138988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E6B75"/>
                </a:solidFill>
                <a:latin typeface="Aptos"/>
              </a:defRPr>
            </a:pPr>
            <a:r>
              <a:t>crea alerta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74920"/>
            <a:ext cx="4663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123B5D"/>
                </a:solidFill>
                <a:latin typeface="Aptos"/>
              </a:defRPr>
            </a:pPr>
            <a:r>
              <a:t>HTTP 201 no espera la alerta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74920"/>
            <a:ext cx="4663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00A6A6"/>
                </a:solidFill>
                <a:latin typeface="Aptos"/>
              </a:defRPr>
            </a:pPr>
            <a:r>
              <a:t>La cola absorbe picos y reintentos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Estilos y patrones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170432"/>
            <a:ext cx="146304" cy="1078992"/>
          </a:xfrm>
          <a:prstGeom prst="rect">
            <a:avLst/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353312"/>
            <a:ext cx="4389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123B5D"/>
                </a:solidFill>
                <a:latin typeface="Aptos"/>
              </a:defRPr>
            </a:pPr>
            <a:r>
              <a:t>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73936"/>
            <a:ext cx="43891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Frontera pública estable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170432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170432"/>
            <a:ext cx="146304" cy="107899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53312"/>
            <a:ext cx="4389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00A6A6"/>
                </a:solidFill>
                <a:latin typeface="Aptos"/>
              </a:defRPr>
            </a:pPr>
            <a:r>
              <a:t>Event-Driven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773936"/>
            <a:ext cx="43891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Procesamiento desacoplado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688336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688336"/>
            <a:ext cx="146304" cy="107899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871216"/>
            <a:ext cx="4389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16845B"/>
                </a:solidFill>
                <a:latin typeface="Aptos"/>
              </a:defRPr>
            </a:pPr>
            <a:r>
              <a:t>Microservicios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43891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Despliegue independiente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688336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2688336"/>
            <a:ext cx="146304" cy="1078992"/>
          </a:xfrm>
          <a:prstGeom prst="rect">
            <a:avLst/>
          </a:prstGeom>
          <a:solidFill>
            <a:srgbClr val="E79A24"/>
          </a:solidFill>
          <a:ln>
            <a:solidFill>
              <a:srgbClr val="E7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871216"/>
            <a:ext cx="4389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E79A24"/>
                </a:solidFill>
                <a:latin typeface="Aptos"/>
              </a:defRPr>
            </a:pPr>
            <a:r>
              <a:t>Server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291840"/>
            <a:ext cx="43891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Reacción por evento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206240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4206240"/>
            <a:ext cx="146304" cy="1078992"/>
          </a:xfrm>
          <a:prstGeom prst="rect">
            <a:avLst/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89120"/>
            <a:ext cx="4389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123B5D"/>
                </a:solidFill>
                <a:latin typeface="Aptos"/>
              </a:defRPr>
            </a:pPr>
            <a:r>
              <a:t>Cache-aside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09744"/>
            <a:ext cx="43891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Menor latencia de lectura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4206240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4206240"/>
            <a:ext cx="146304" cy="107899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389120"/>
            <a:ext cx="4389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00A6A6"/>
                </a:solidFill>
                <a:latin typeface="Aptos"/>
              </a:defRPr>
            </a:pPr>
            <a:r>
              <a:t>Idempotent Consumer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809744"/>
            <a:ext cx="43891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B75"/>
                </a:solidFill>
                <a:latin typeface="Aptos"/>
              </a:defRPr>
            </a:pPr>
            <a:r>
              <a:t>Sin duplicados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669280"/>
            <a:ext cx="10652760" cy="438912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60720"/>
            <a:ext cx="10332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23B5D"/>
                </a:solidFill>
                <a:latin typeface="Aptos"/>
              </a:defRPr>
            </a:pPr>
            <a:r>
              <a:t>Diseño pequeño, demostrable y preparado para evolucionar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API Gateway REST + Swagger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55778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123B5D"/>
                </a:solidFill>
                <a:latin typeface="Aptos"/>
              </a:defRPr>
            </a:pPr>
            <a:r>
              <a:t>Documentación interactiva en /docs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914400" cy="448056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719072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709928"/>
            <a:ext cx="38404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12A31"/>
                </a:solidFill>
                <a:latin typeface="Consolas"/>
              </a:defRPr>
            </a:pPr>
            <a:r>
              <a:t>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09928"/>
            <a:ext cx="914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300" b="0">
                <a:solidFill>
                  <a:srgbClr val="5E6B75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914400" cy="448056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340864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331720"/>
            <a:ext cx="38404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12A31"/>
                </a:solidFill>
                <a:latin typeface="Consolas"/>
              </a:defRPr>
            </a:pPr>
            <a:r>
              <a:t>/api/projects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331720"/>
            <a:ext cx="914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300" b="0">
                <a:solidFill>
                  <a:srgbClr val="5E6B75"/>
                </a:solidFill>
                <a:latin typeface="Aptos"/>
              </a:defRPr>
            </a:pPr>
            <a:r>
              <a:t>Listar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71216"/>
            <a:ext cx="914400" cy="448056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962656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953512"/>
            <a:ext cx="38404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12A31"/>
                </a:solidFill>
                <a:latin typeface="Consolas"/>
              </a:defRPr>
            </a:pPr>
            <a:r>
              <a:t>/api/projects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953512"/>
            <a:ext cx="914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300" b="0">
                <a:solidFill>
                  <a:srgbClr val="5E6B75"/>
                </a:solidFill>
                <a:latin typeface="Aptos"/>
              </a:defRPr>
            </a:pPr>
            <a:r>
              <a:t>Crear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93008"/>
            <a:ext cx="914400" cy="448056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584448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3575304"/>
            <a:ext cx="38404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12A31"/>
                </a:solidFill>
                <a:latin typeface="Consolas"/>
              </a:defRPr>
            </a:pPr>
            <a:r>
              <a:t>/api/projects/{id}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575304"/>
            <a:ext cx="914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300" b="0">
                <a:solidFill>
                  <a:srgbClr val="5E6B75"/>
                </a:solidFill>
                <a:latin typeface="Aptos"/>
              </a:defRPr>
            </a:pPr>
            <a:r>
              <a:t>Detalle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14800"/>
            <a:ext cx="914400" cy="448056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206240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4197096"/>
            <a:ext cx="38404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12A31"/>
                </a:solidFill>
                <a:latin typeface="Consolas"/>
              </a:defRPr>
            </a:pPr>
            <a:r>
              <a:t>/api/projects/{id}/progress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197096"/>
            <a:ext cx="914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300" b="0">
                <a:solidFill>
                  <a:srgbClr val="5E6B75"/>
                </a:solidFill>
                <a:latin typeface="Aptos"/>
              </a:defRPr>
            </a:pPr>
            <a:r>
              <a:t>Avance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736592"/>
            <a:ext cx="914400" cy="448056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828032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4818888"/>
            <a:ext cx="38404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12A31"/>
                </a:solidFill>
                <a:latin typeface="Consolas"/>
              </a:defRPr>
            </a:pPr>
            <a:r>
              <a:t>/api/notifications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818888"/>
            <a:ext cx="914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300" b="0">
                <a:solidFill>
                  <a:srgbClr val="5E6B75"/>
                </a:solidFill>
                <a:latin typeface="Aptos"/>
              </a:defRPr>
            </a:pPr>
            <a:r>
              <a:t>Alertas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1234440"/>
            <a:ext cx="4800600" cy="4407408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EA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/>
          <a:lstStyle/>
          <a:p>
            <a:pPr algn="l">
              <a:spcAft>
                <a:spcPts val="400"/>
              </a:spcAft>
              <a:defRPr sz="2300" b="1">
                <a:solidFill>
                  <a:srgbClr val="00A6A6"/>
                </a:solidFill>
                <a:latin typeface="Aptos"/>
              </a:defRPr>
            </a:pPr>
            <a:r>
              <a:t>Contrato OpenAPI 3.0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212A31"/>
                </a:solidFill>
                <a:latin typeface="Aptos"/>
              </a:defRPr>
            </a:pPr>
            <a:r>
              <a:t>✓ Ejemplos de payload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212A31"/>
                </a:solidFill>
                <a:latin typeface="Aptos"/>
              </a:defRPr>
            </a:pPr>
            <a:r>
              <a:t>✓ Códigos de respuesta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212A31"/>
                </a:solidFill>
                <a:latin typeface="Aptos"/>
              </a:defRPr>
            </a:pPr>
            <a:r>
              <a:t>✓ Esquemas y validaciones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212A31"/>
                </a:solidFill>
                <a:latin typeface="Aptos"/>
              </a:defRPr>
            </a:pPr>
            <a:r>
              <a:t>✓ Una única URL para el evaluador</a:t>
            </a:r>
          </a:p>
          <a:p>
            <a:pPr algn="l">
              <a:spcAft>
                <a:spcPts val="0"/>
              </a:spcAft>
              <a:defRPr sz="1500" b="1">
                <a:solidFill>
                  <a:srgbClr val="123B5D"/>
                </a:solidFill>
                <a:latin typeface="Aptos"/>
              </a:defRPr>
            </a:pPr>
            <a:r>
              <a:t>http://localhost:3000/docs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Datos, caché y mensajería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340156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17320"/>
            <a:ext cx="30175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123B5D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1920240"/>
            <a:ext cx="2212848" cy="45720"/>
          </a:xfrm>
          <a:prstGeom prst="rect">
            <a:avLst/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2880360" cy="2423160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projects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progress_updates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notifications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Transacción + FOR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2728" y="4956048"/>
            <a:ext cx="2212848" cy="420624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736" y="5047488"/>
            <a:ext cx="2084831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CONSISTENCIA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143000"/>
            <a:ext cx="340156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417320"/>
            <a:ext cx="30175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00A6A6"/>
                </a:solidFill>
                <a:latin typeface="Aptos"/>
              </a:defRPr>
            </a:pPr>
            <a:r>
              <a:t>REDIS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920240"/>
            <a:ext cx="2212848" cy="4572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2267712"/>
            <a:ext cx="2880360" cy="2423160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projects:active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TTL 60 segundos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HIT / MISS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Invalidación al escribir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4956048"/>
            <a:ext cx="2212848" cy="420624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7" y="5047488"/>
            <a:ext cx="2084831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LATENCIA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143000"/>
            <a:ext cx="340156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417320"/>
            <a:ext cx="30175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16845B"/>
                </a:solidFill>
                <a:latin typeface="Aptos"/>
              </a:defRPr>
            </a:pPr>
            <a:r>
              <a:t>RABBITMQ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7112" y="1920240"/>
            <a:ext cx="2212848" cy="457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2267712"/>
            <a:ext cx="2880360" cy="2423160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Exchange topic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Cola durable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Mensajes persistentes</a:t>
            </a:r>
          </a:p>
          <a:p>
            <a:pPr>
              <a:spcAft>
                <a:spcPts val="1000"/>
              </a:spcAft>
              <a:defRPr sz="1600">
                <a:solidFill>
                  <a:srgbClr val="212A31"/>
                </a:solidFill>
                <a:latin typeface="Aptos"/>
              </a:defRPr>
            </a:pPr>
            <a:r>
              <a:t>•  Ack después de guardar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7112" y="4956048"/>
            <a:ext cx="2212848" cy="420624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5047488"/>
            <a:ext cx="2084831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RESILIENCIA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Atributos de calidad evaluados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Aptos"/>
              </a:defRPr>
            </a:pPr>
            <a:r>
              <a:t>Caché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Redis + TTL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325880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554480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Aptos"/>
              </a:defRPr>
            </a:pPr>
            <a:r>
              <a:t>Balanceo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130552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Servicios stateless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325880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554480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Aptos"/>
              </a:defRPr>
            </a:pPr>
            <a:r>
              <a:t>Indexación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130552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4 índices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25880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554480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Aptos"/>
              </a:defRPr>
            </a:pPr>
            <a:r>
              <a:t>Redundancia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130552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Réplicas proyectadas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19272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47872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00A6A6"/>
                </a:solidFill>
                <a:latin typeface="Aptos"/>
              </a:defRPr>
            </a:pPr>
            <a:r>
              <a:t>Disponibilidad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23944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Cola durable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319272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3547872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00A6A6"/>
                </a:solidFill>
                <a:latin typeface="Aptos"/>
              </a:defRPr>
            </a:pPr>
            <a:r>
              <a:t>Concurrencia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4123944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FOR UPDATE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3319272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547872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00A6A6"/>
                </a:solidFill>
                <a:latin typeface="Aptos"/>
              </a:defRPr>
            </a:pPr>
            <a:r>
              <a:t>Latencia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123944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Ruta async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3319272"/>
            <a:ext cx="254203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3547872"/>
            <a:ext cx="2212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00A6A6"/>
                </a:solidFill>
                <a:latin typeface="Aptos"/>
              </a:defRPr>
            </a:pPr>
            <a:r>
              <a:t>Escalabilidad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123944"/>
            <a:ext cx="22128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B75"/>
                </a:solidFill>
                <a:latin typeface="Aptos"/>
              </a:defRPr>
            </a:pPr>
            <a:r>
              <a:t>Más réplicas/consumidores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2704"/>
            <a:ext cx="9875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23B5D"/>
                </a:solidFill>
                <a:latin typeface="Aptos"/>
              </a:defRPr>
            </a:pPr>
            <a:r>
              <a:t>Métricas: p95 · hit ratio · profundidad de cola · conexiones SQL · errores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Despliegue, logs y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4937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123B5D"/>
                </a:solidFill>
                <a:latin typeface="Aptos"/>
              </a:defRPr>
            </a:pPr>
            <a:r>
              <a:t>Docker Compose: seis contenedores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1389888" cy="73152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Gateway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contenedor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22576" y="1645920"/>
            <a:ext cx="1389888" cy="73152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Service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contenedor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6784" y="1645920"/>
            <a:ext cx="1389888" cy="73152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Function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contenedor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61488"/>
            <a:ext cx="1389888" cy="7315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Postgres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contenedor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2576" y="2761488"/>
            <a:ext cx="1389888" cy="7315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Redis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contenedor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86784" y="2761488"/>
            <a:ext cx="1389888" cy="7315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123B5D"/>
                </a:solidFill>
                <a:latin typeface="Aptos Display"/>
              </a:defRPr>
            </a:pPr>
            <a:r>
              <a:t>RabbitMQ</a:t>
            </a:r>
          </a:p>
          <a:p>
            <a:pPr algn="ctr">
              <a:defRPr sz="1000">
                <a:solidFill>
                  <a:srgbClr val="123B5D"/>
                </a:solidFill>
                <a:latin typeface="Aptos"/>
              </a:defRPr>
            </a:pPr>
            <a:r>
              <a:t>contenedor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005840"/>
            <a:ext cx="50292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00A6A6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719072"/>
            <a:ext cx="8412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1901952"/>
            <a:ext cx="7680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00A6A6"/>
                </a:solidFill>
                <a:latin typeface="Aptos"/>
              </a:defRPr>
            </a:pPr>
            <a:r>
              <a:t>push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22008" y="2020824"/>
            <a:ext cx="237744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59752" y="1719072"/>
            <a:ext cx="8412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1901952"/>
            <a:ext cx="7680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00A6A6"/>
                </a:solidFill>
                <a:latin typeface="Aptos"/>
              </a:defRPr>
            </a:pPr>
            <a:r>
              <a:t>npm ci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01000" y="2020824"/>
            <a:ext cx="237744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38744" y="1719072"/>
            <a:ext cx="8412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901952"/>
            <a:ext cx="7680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00A6A6"/>
                </a:solidFill>
                <a:latin typeface="Aptos"/>
              </a:defRPr>
            </a:pPr>
            <a:r>
              <a:t>4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9992" y="2020824"/>
            <a:ext cx="237744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17736" y="1719072"/>
            <a:ext cx="8412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1901952"/>
            <a:ext cx="7680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00A6A6"/>
                </a:solidFill>
                <a:latin typeface="Aptos"/>
              </a:defRPr>
            </a:pPr>
            <a:r>
              <a:t>check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158984" y="2020824"/>
            <a:ext cx="237744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396728" y="1719072"/>
            <a:ext cx="841248" cy="603504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33304" y="1901952"/>
            <a:ext cx="7680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160520"/>
            <a:ext cx="4983480" cy="13258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/>
          <a:lstStyle/>
          <a:p>
            <a:pPr algn="l">
              <a:spcAft>
                <a:spcPts val="400"/>
              </a:spcAft>
              <a:defRPr sz="1600" b="1">
                <a:solidFill>
                  <a:srgbClr val="123B5D"/>
                </a:solidFill>
                <a:latin typeface="Aptos"/>
              </a:defRPr>
            </a:pPr>
            <a:r>
              <a:t>Operación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212A31"/>
                </a:solidFill>
                <a:latin typeface="Aptos"/>
              </a:defRPr>
            </a:pPr>
            <a:r>
              <a:t>Logs JSON · x-request-id · health checks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4160520"/>
            <a:ext cx="4983480" cy="132588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EA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/>
          <a:lstStyle/>
          <a:p>
            <a:pPr algn="l">
              <a:spcAft>
                <a:spcPts val="400"/>
              </a:spcAft>
              <a:defRPr sz="1600" b="1">
                <a:solidFill>
                  <a:srgbClr val="00A6A6"/>
                </a:solidFill>
                <a:latin typeface="Aptos"/>
              </a:defRPr>
            </a:pPr>
            <a:r>
              <a:t>Evolución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212A31"/>
                </a:solidFill>
                <a:latin typeface="Aptos"/>
              </a:defRPr>
            </a:pPr>
            <a:r>
              <a:t>Registry → aprobación → VPS/Kubernetes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Evidencia de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2423160" cy="1572768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89888"/>
            <a:ext cx="208483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200" b="1">
                <a:solidFill>
                  <a:srgbClr val="123B5D"/>
                </a:solidFill>
                <a:latin typeface="Aptos"/>
              </a:defRPr>
            </a:pPr>
            <a:r>
              <a:t>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76272"/>
            <a:ext cx="20848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5E6B75"/>
                </a:solidFill>
                <a:latin typeface="Aptos"/>
              </a:defRPr>
            </a:pPr>
            <a:r>
              <a:t>pruebas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143000"/>
            <a:ext cx="2423160" cy="1572768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389888"/>
            <a:ext cx="208483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200" b="1">
                <a:solidFill>
                  <a:srgbClr val="00A6A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176272"/>
            <a:ext cx="20848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5E6B75"/>
                </a:solidFill>
                <a:latin typeface="Aptos"/>
              </a:defRPr>
            </a:pPr>
            <a:r>
              <a:t>contenedores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1143000"/>
            <a:ext cx="2423160" cy="1572768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389888"/>
            <a:ext cx="208483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200" b="1">
                <a:solidFill>
                  <a:srgbClr val="123B5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176272"/>
            <a:ext cx="20848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5E6B75"/>
                </a:solidFill>
                <a:latin typeface="Aptos"/>
              </a:defRPr>
            </a:pPr>
            <a:r>
              <a:t>vulnerabilidades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143000"/>
            <a:ext cx="2423160" cy="1572768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389888"/>
            <a:ext cx="2084831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3200" b="1">
                <a:solidFill>
                  <a:srgbClr val="00A6A6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176272"/>
            <a:ext cx="2084831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5E6B75"/>
                </a:solidFill>
                <a:latin typeface="Aptos"/>
              </a:defRPr>
            </a:pPr>
            <a:r>
              <a:t>HTTP creado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10835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/>
          <a:lstStyle/>
          <a:p>
            <a:pPr algn="l">
              <a:spcAft>
                <a:spcPts val="400"/>
              </a:spcAft>
              <a:defRPr sz="1400" b="1">
                <a:solidFill>
                  <a:srgbClr val="00A6A6"/>
                </a:solidFill>
                <a:latin typeface="Aptos"/>
              </a:defRPr>
            </a:pPr>
            <a:r>
              <a:t>SMOKE TEST INTEGRAL</a:t>
            </a:r>
          </a:p>
          <a:p>
            <a:pPr algn="l">
              <a:spcAft>
                <a:spcPts val="400"/>
              </a:spcAft>
              <a:defRPr sz="1900" b="1">
                <a:solidFill>
                  <a:srgbClr val="212A31"/>
                </a:solidFill>
                <a:latin typeface="Aptos"/>
              </a:defRPr>
            </a:pPr>
            <a:r>
              <a:t>✓ Gateway: status ok</a:t>
            </a:r>
          </a:p>
          <a:p>
            <a:pPr algn="l">
              <a:spcAft>
                <a:spcPts val="400"/>
              </a:spcAft>
              <a:defRPr sz="1900" b="1">
                <a:solidFill>
                  <a:srgbClr val="212A31"/>
                </a:solidFill>
                <a:latin typeface="Aptos"/>
              </a:defRPr>
            </a:pPr>
            <a:r>
              <a:t>✓ Evento progress.recorded publicado</a:t>
            </a:r>
          </a:p>
          <a:p>
            <a:pPr algn="l">
              <a:spcAft>
                <a:spcPts val="400"/>
              </a:spcAft>
              <a:defRPr sz="1900" b="1">
                <a:solidFill>
                  <a:srgbClr val="212A31"/>
                </a:solidFill>
                <a:latin typeface="Aptos"/>
              </a:defRPr>
            </a:pPr>
            <a:r>
              <a:t>✓ Alert Function creó avance_registrado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E6B75"/>
                </a:solidFill>
                <a:latin typeface="Aptos"/>
              </a:defRPr>
            </a:pPr>
            <a:r>
              <a:t>Evento 35507170-3d8e-4527-9caf-0a445bad5c0e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9875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23B5D"/>
                </a:solidFill>
                <a:latin typeface="Aptos"/>
              </a:defRPr>
            </a:pPr>
            <a:r>
              <a:t>Demostración para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960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400" b="1">
                <a:solidFill>
                  <a:srgbClr val="00A6A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8288"/>
          </a:xfrm>
          <a:prstGeom prst="rect">
            <a:avLst/>
          </a:prstGeom>
          <a:solidFill>
            <a:srgbClr val="F2F4F6"/>
          </a:solidFill>
          <a:ln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E6B75"/>
                </a:solidFill>
                <a:latin typeface="Aptos"/>
              </a:defRPr>
            </a:pPr>
            <a:r>
              <a:t>CARLOS ANGULO · ISWZ2202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46520"/>
            <a:ext cx="4160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E6B75"/>
                </a:solidFill>
                <a:latin typeface="Aptos"/>
              </a:defRPr>
            </a:pPr>
            <a:r>
              <a:t>CONTROLPRO ACADÉMICO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07899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43584"/>
            <a:ext cx="548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133856"/>
            <a:ext cx="43891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23B5D"/>
                </a:solidFill>
                <a:latin typeface="Aptos"/>
              </a:defRPr>
            </a:pPr>
            <a:r>
              <a:t>docker compose 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472184"/>
            <a:ext cx="4389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B75"/>
                </a:solidFill>
                <a:latin typeface="Aptos"/>
              </a:defRPr>
            </a:pPr>
            <a:r>
              <a:t>Mostrar infraestructura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057400"/>
            <a:ext cx="621792" cy="621792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21992"/>
            <a:ext cx="548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112264"/>
            <a:ext cx="43891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23B5D"/>
                </a:solidFill>
                <a:latin typeface="Aptos"/>
              </a:defRPr>
            </a:pPr>
            <a:r>
              <a:t>Abrir 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450592"/>
            <a:ext cx="4389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B75"/>
                </a:solidFill>
                <a:latin typeface="Aptos"/>
              </a:defRPr>
            </a:pPr>
            <a:r>
              <a:t>Revisar Swagger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035808"/>
            <a:ext cx="621792" cy="621792"/>
          </a:xfrm>
          <a:prstGeom prst="roundRect">
            <a:avLst>
              <a:gd name="adj" fmla="val 8000"/>
            </a:avLst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00400"/>
            <a:ext cx="548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090672"/>
            <a:ext cx="43891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23B5D"/>
                </a:solidFill>
                <a:latin typeface="Aptos"/>
              </a:defRPr>
            </a:pPr>
            <a:r>
              <a:t>GET /api/projects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429000"/>
            <a:ext cx="4389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B75"/>
                </a:solidFill>
                <a:latin typeface="Aptos"/>
              </a:defRPr>
            </a:pPr>
            <a:r>
              <a:t>Obtener 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14215"/>
            <a:ext cx="621792" cy="621792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178807"/>
            <a:ext cx="548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069079"/>
            <a:ext cx="43891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A6A6"/>
                </a:solidFill>
                <a:latin typeface="Aptos"/>
              </a:defRPr>
            </a:pPr>
            <a:r>
              <a:t>POST /progress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407407"/>
            <a:ext cx="4389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B75"/>
                </a:solidFill>
                <a:latin typeface="Aptos"/>
              </a:defRPr>
            </a:pPr>
            <a:r>
              <a:t>Registrar 70%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92624"/>
            <a:ext cx="621792" cy="621792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57216"/>
            <a:ext cx="5486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5047488"/>
            <a:ext cx="43891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A6A6"/>
                </a:solidFill>
                <a:latin typeface="Aptos"/>
              </a:defRPr>
            </a:pPr>
            <a:r>
              <a:t>GET /notifications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385816"/>
            <a:ext cx="4389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B75"/>
                </a:solidFill>
                <a:latin typeface="Aptos"/>
              </a:defRPr>
            </a:pPr>
            <a:r>
              <a:t>Comprobar la función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234440"/>
            <a:ext cx="4800600" cy="443484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solidFill>
              <a:srgbClr val="EA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118872"/>
          <a:lstStyle/>
          <a:p>
            <a:pPr algn="l">
              <a:spcAft>
                <a:spcPts val="400"/>
              </a:spcAft>
              <a:defRPr sz="1400" b="1">
                <a:solidFill>
                  <a:srgbClr val="00A6A6"/>
                </a:solidFill>
                <a:latin typeface="Aptos"/>
              </a:defRPr>
            </a:pPr>
            <a:r>
              <a:t>MENSAJE CLAVE</a:t>
            </a:r>
          </a:p>
          <a:p>
            <a:pPr algn="l">
              <a:spcAft>
                <a:spcPts val="1400"/>
              </a:spcAft>
              <a:defRPr sz="2600" b="1">
                <a:solidFill>
                  <a:srgbClr val="123B5D"/>
                </a:solidFill>
                <a:latin typeface="Aptos"/>
              </a:defRPr>
            </a:pPr>
            <a:r>
              <a:t>El cliente recibe respuesta sin esperar la alerta.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212A31"/>
                </a:solidFill>
                <a:latin typeface="Aptos"/>
              </a:defRPr>
            </a:pPr>
            <a:r>
              <a:t>RabbitMQ desacopla, conserva y distribuye el trabajo.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32918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9FE5E5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9784080" cy="11430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Una arquitectura pequeña,</a:t>
            </a:r>
            <a:br/>
            <a:r>
              <a:t>completa y verificable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743200"/>
            <a:ext cx="8046720" cy="2194560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Tres aplicaciones con responsabilidades independientes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REST para respuesta inmediata y AMQP para resiliencia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Datos consistentes, caché e idempotencia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Docker, pruebas, Swagger, C4 y CI/CD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34924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513832"/>
            <a:ext cx="101498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github.com/Elnuget/ControlPro-Academico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487168"/>
            <a:ext cx="1920240" cy="1463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CONTROLPRO</a:t>
            </a:r>
            <a:br/>
            <a:r>
              <a:t>ACADÉMICO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ControlPro Académico — Arquitectura distribuida</dc:title>
  <dc:subject>Diseño y Arquitectura de Software</dc:subject>
  <dc:creator>Carlos Angulo</dc:creator>
  <cp:keywords/>
  <dc:description>Presentación académica basada en el blueprint de ControlPro Académico.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